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" name="Google Shape;2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" name="Google Shape;4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" name="Google Shape;7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" name="Google Shape;21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5" name="Google Shape;24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/mnt/data/template_pages/page-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5394950" y="594350"/>
            <a:ext cx="6583800" cy="5394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577840" y="841248"/>
            <a:ext cx="603504" cy="41148"/>
          </a:xfrm>
          <a:prstGeom prst="rect">
            <a:avLst/>
          </a:prstGeom>
          <a:solidFill>
            <a:srgbClr val="E31B23"/>
          </a:solidFill>
          <a:ln w="12700" cap="flat" cmpd="sng">
            <a:solidFill>
              <a:srgbClr val="E31B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181344" y="841248"/>
            <a:ext cx="603504" cy="41148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784848" y="841248"/>
            <a:ext cx="621792" cy="41148"/>
          </a:xfrm>
          <a:prstGeom prst="rect">
            <a:avLst/>
          </a:prstGeom>
          <a:solidFill>
            <a:srgbClr val="005425"/>
          </a:solidFill>
          <a:ln w="12700" cap="flat" cmpd="sng">
            <a:solidFill>
              <a:srgbClr val="005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577840" y="1143000"/>
            <a:ext cx="598932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2600"/>
              <a:buFont typeface="Georgia"/>
              <a:buNone/>
            </a:pPr>
            <a:r>
              <a:rPr lang="en-US" sz="26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AI-DRIVEN PREDICTIVE</a:t>
            </a:r>
            <a:endParaRPr sz="26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2600"/>
              <a:buFont typeface="Georgia"/>
              <a:buNone/>
            </a:pPr>
            <a:r>
              <a:rPr lang="en-US" sz="26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ANALYTICS FOR BUSINESS</a:t>
            </a:r>
            <a:endParaRPr sz="26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2600"/>
              <a:buFont typeface="Georgia"/>
              <a:buNone/>
            </a:pPr>
            <a:r>
              <a:rPr lang="en-US" sz="26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GROWTH USING R</a:t>
            </a:r>
            <a:endParaRPr sz="26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596128" y="2697480"/>
            <a:ext cx="1645920" cy="54864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577850" y="2907800"/>
            <a:ext cx="6121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Georgia"/>
              <a:buNone/>
            </a:pPr>
            <a:r>
              <a:rPr lang="en-US" sz="1800" b="1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Use Case: Real Estate Market Intelligence in Nigeria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 descr="/mnt/data/template_pages/page-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0" y="0"/>
            <a:ext cx="12191695" cy="1572768"/>
          </a:xfrm>
          <a:prstGeom prst="rect">
            <a:avLst/>
          </a:prstGeom>
          <a:solidFill>
            <a:srgbClr val="005425"/>
          </a:solidFill>
          <a:ln w="12700" cap="flat" cmpd="sng">
            <a:solidFill>
              <a:srgbClr val="005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932688" y="0"/>
            <a:ext cx="347472" cy="896112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783080" y="521208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WHY THIS MATTERS</a:t>
            </a:r>
            <a:endParaRPr sz="24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0881360" y="438912"/>
            <a:ext cx="685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9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44100" y="1901950"/>
            <a:ext cx="5279400" cy="3940200"/>
          </a:xfrm>
          <a:prstGeom prst="roundRect">
            <a:avLst>
              <a:gd name="adj" fmla="val 2254"/>
            </a:avLst>
          </a:prstGeom>
          <a:solidFill>
            <a:srgbClr val="FFFFFF">
              <a:alpha val="94900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74300" y="2148848"/>
            <a:ext cx="45834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100"/>
              <a:buFont typeface="Georgia"/>
              <a:buNone/>
            </a:pPr>
            <a:r>
              <a:rPr lang="en-US" sz="17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THE AFRICAN BUSINESS REALITY</a:t>
            </a:r>
            <a:endParaRPr sz="17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74300" y="2514600"/>
            <a:ext cx="4686300" cy="30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Georgia"/>
              <a:buChar char="●"/>
            </a:pPr>
            <a:r>
              <a:rPr lang="en-US" sz="18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Many businesses collect data but still make decisions from fragmented signals.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Georgia"/>
              <a:buChar char="●"/>
            </a:pPr>
            <a:r>
              <a:rPr lang="en-US" sz="18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Real estate decisions involve expensive assets, long cycles, and costly pricing mistakes.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Georgia"/>
              <a:buChar char="●"/>
            </a:pPr>
            <a:r>
              <a:rPr lang="en-US" sz="18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Nigeria’s housing demand and pricing complexity create a strong, relatable use case.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Georgia"/>
              <a:buChar char="●"/>
            </a:pPr>
            <a:r>
              <a:rPr lang="en-US" sz="18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Predictive analytics can support pricing, investment screening, and market expansion.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217920" y="1965960"/>
            <a:ext cx="4389120" cy="658368"/>
          </a:xfrm>
          <a:prstGeom prst="roundRect">
            <a:avLst>
              <a:gd name="adj" fmla="val 11111"/>
            </a:avLst>
          </a:prstGeom>
          <a:solidFill>
            <a:srgbClr val="005425"/>
          </a:solidFill>
          <a:ln w="12700" cap="flat" cmpd="sng">
            <a:solidFill>
              <a:srgbClr val="005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355080" y="2084832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eorgia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From fragmented listings to structured business insight.</a:t>
            </a:r>
            <a:endParaRPr sz="17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006250" y="2926075"/>
            <a:ext cx="2269200" cy="2916000"/>
          </a:xfrm>
          <a:prstGeom prst="roundRect">
            <a:avLst>
              <a:gd name="adj" fmla="val 5000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217925" y="3618960"/>
            <a:ext cx="19659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2200"/>
              <a:buFont typeface="Georgia"/>
              <a:buNone/>
            </a:pPr>
            <a:r>
              <a:rPr lang="en-US" sz="16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DATA → ACTION</a:t>
            </a:r>
            <a:endParaRPr sz="16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309475" y="4088435"/>
            <a:ext cx="18744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Georgia"/>
              <a:buNone/>
            </a:pPr>
            <a:r>
              <a:rPr lang="en-US" b="1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DECISION SYSTEMS</a:t>
            </a:r>
            <a:endParaRPr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423625" y="2926075"/>
            <a:ext cx="2457600" cy="2916000"/>
          </a:xfrm>
          <a:prstGeom prst="roundRect">
            <a:avLst>
              <a:gd name="adj" fmla="val 5000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549575" y="3650035"/>
            <a:ext cx="2194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2200"/>
              <a:buFont typeface="Georgia"/>
              <a:buNone/>
            </a:pPr>
            <a:r>
              <a:rPr lang="en-US" sz="16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LESS GUESSWORK</a:t>
            </a:r>
            <a:endParaRPr sz="16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641075" y="4075735"/>
            <a:ext cx="18744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Georgia"/>
              <a:buNone/>
            </a:pPr>
            <a:r>
              <a:rPr lang="en-US" b="1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RISK REDUCTION</a:t>
            </a:r>
            <a:endParaRPr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5" descr="/mnt/data/template_pages/page-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5"/>
          <p:cNvSpPr/>
          <p:nvPr/>
        </p:nvSpPr>
        <p:spPr>
          <a:xfrm>
            <a:off x="0" y="0"/>
            <a:ext cx="12191695" cy="1572768"/>
          </a:xfrm>
          <a:prstGeom prst="rect">
            <a:avLst/>
          </a:prstGeom>
          <a:solidFill>
            <a:srgbClr val="005425"/>
          </a:solidFill>
          <a:ln w="12700" cap="flat" cmpd="sng">
            <a:solidFill>
              <a:srgbClr val="005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932688" y="0"/>
            <a:ext cx="347472" cy="896112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783080" y="521208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50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BUSINESS PROBLEM</a:t>
            </a:r>
            <a:endParaRPr sz="5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0881360" y="438912"/>
            <a:ext cx="685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9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914400" y="1768475"/>
            <a:ext cx="10481400" cy="798900"/>
          </a:xfrm>
          <a:prstGeom prst="roundRect">
            <a:avLst>
              <a:gd name="adj" fmla="val 9756"/>
            </a:avLst>
          </a:prstGeom>
          <a:solidFill>
            <a:srgbClr val="005425"/>
          </a:solidFill>
          <a:ln w="12700" cap="flat" cmpd="sng">
            <a:solidFill>
              <a:srgbClr val="005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051550" y="1874525"/>
            <a:ext cx="102357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Can we use housing market data to estimate property value and support smarter real estate growth decisions?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914400" y="2747625"/>
            <a:ext cx="3257700" cy="2259000"/>
          </a:xfrm>
          <a:prstGeom prst="roundRect">
            <a:avLst>
              <a:gd name="adj" fmla="val 4848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143000" y="2846067"/>
            <a:ext cx="21033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100"/>
              <a:buFont typeface="Georgia"/>
              <a:buNone/>
            </a:pPr>
            <a:r>
              <a:rPr lang="en-US" sz="18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PRICING QUESTION</a:t>
            </a:r>
            <a:endParaRPr sz="18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143000" y="3630175"/>
            <a:ext cx="2860200" cy="12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Georgia"/>
              <a:buNone/>
            </a:pPr>
            <a:r>
              <a:rPr lang="en-US" sz="18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What is a defensible market estimate for a property, given its features and location?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526275" y="2747625"/>
            <a:ext cx="3257700" cy="2259000"/>
          </a:xfrm>
          <a:prstGeom prst="roundRect">
            <a:avLst>
              <a:gd name="adj" fmla="val 4848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755343" y="2846060"/>
            <a:ext cx="2627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100"/>
              <a:buFont typeface="Georgia"/>
              <a:buNone/>
            </a:pPr>
            <a:r>
              <a:rPr lang="en-US" sz="18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INVESTMENT QUESTION</a:t>
            </a:r>
            <a:endParaRPr sz="18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754875" y="3630175"/>
            <a:ext cx="2860200" cy="12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Georgia"/>
              <a:buNone/>
            </a:pPr>
            <a:r>
              <a:rPr lang="en-US" sz="18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Which listings may be underpriced, overpriced, or unusual enough to deserve closer review?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8138150" y="2747625"/>
            <a:ext cx="3257700" cy="2259000"/>
          </a:xfrm>
          <a:prstGeom prst="roundRect">
            <a:avLst>
              <a:gd name="adj" fmla="val 4848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367698" y="2846067"/>
            <a:ext cx="21033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100"/>
              <a:buFont typeface="Georgia"/>
              <a:buNone/>
            </a:pPr>
            <a:r>
              <a:rPr lang="en-US" sz="18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GROWTH QUESTION</a:t>
            </a:r>
            <a:endParaRPr sz="18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8307000" y="3630175"/>
            <a:ext cx="2860200" cy="12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Georgia"/>
              <a:buNone/>
            </a:pPr>
            <a:r>
              <a:rPr lang="en-US" sz="18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Which markets, segments, or property types look attractive for expansion or prioritization?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657600" y="5257800"/>
            <a:ext cx="1569110" cy="41148"/>
          </a:xfrm>
          <a:prstGeom prst="rect">
            <a:avLst/>
          </a:prstGeom>
          <a:solidFill>
            <a:srgbClr val="E31B23"/>
          </a:solidFill>
          <a:ln w="12700" cap="flat" cmpd="sng">
            <a:solidFill>
              <a:srgbClr val="E31B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226710" y="5257800"/>
            <a:ext cx="1569110" cy="41148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795821" y="5257800"/>
            <a:ext cx="1616659" cy="41148"/>
          </a:xfrm>
          <a:prstGeom prst="rect">
            <a:avLst/>
          </a:prstGeom>
          <a:solidFill>
            <a:srgbClr val="005425"/>
          </a:solidFill>
          <a:ln w="12700" cap="flat" cmpd="sng">
            <a:solidFill>
              <a:srgbClr val="005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051550" y="5413250"/>
            <a:ext cx="98298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Georgia"/>
              <a:buNone/>
            </a:pPr>
            <a:r>
              <a:rPr lang="en-US" sz="2400" b="1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Prediction becomes valuable only when it is translated into business decisions.</a:t>
            </a:r>
            <a:endParaRPr sz="24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6" descr="/mnt/data/template_pages/page-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/>
          <p:cNvSpPr/>
          <p:nvPr/>
        </p:nvSpPr>
        <p:spPr>
          <a:xfrm>
            <a:off x="0" y="0"/>
            <a:ext cx="12191695" cy="1572768"/>
          </a:xfrm>
          <a:prstGeom prst="rect">
            <a:avLst/>
          </a:prstGeom>
          <a:solidFill>
            <a:srgbClr val="005425"/>
          </a:solidFill>
          <a:ln w="12700" cap="flat" cmpd="sng">
            <a:solidFill>
              <a:srgbClr val="005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932688" y="0"/>
            <a:ext cx="347472" cy="896112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783080" y="521208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50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STAKEHOLDERS</a:t>
            </a:r>
            <a:endParaRPr sz="5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10881360" y="438912"/>
            <a:ext cx="685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sz="19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868675" y="1874525"/>
            <a:ext cx="3566100" cy="1642800"/>
          </a:xfrm>
          <a:prstGeom prst="roundRect">
            <a:avLst>
              <a:gd name="adj" fmla="val 5517"/>
            </a:avLst>
          </a:prstGeom>
          <a:solidFill>
            <a:srgbClr val="FFFFFF">
              <a:alpha val="94901"/>
            </a:srgbClr>
          </a:solidFill>
          <a:ln w="138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275" tIns="99275" rIns="99275" bIns="99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endParaRPr sz="24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017625" y="2092976"/>
            <a:ext cx="89400" cy="1119900"/>
          </a:xfrm>
          <a:prstGeom prst="rect">
            <a:avLst/>
          </a:prstGeom>
          <a:solidFill>
            <a:srgbClr val="E31B23"/>
          </a:solidFill>
          <a:ln w="13800" cap="flat" cmpd="sng">
            <a:solidFill>
              <a:srgbClr val="E31B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275" tIns="99275" rIns="99275" bIns="99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216200" y="2092975"/>
            <a:ext cx="2624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520"/>
              <a:buFont typeface="Georgia"/>
              <a:buNone/>
            </a:pPr>
            <a:r>
              <a:rPr lang="en-US" sz="16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Investors</a:t>
            </a:r>
            <a:endParaRPr sz="16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1216200" y="2450422"/>
            <a:ext cx="2333400" cy="7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5" tIns="825" rIns="825" bIns="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49"/>
              <a:buFont typeface="Georgia"/>
              <a:buNone/>
            </a:pPr>
            <a:r>
              <a:rPr lang="en-US" sz="1600" b="0" i="0" u="none" strike="noStrike" cap="none" dirty="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Screen opportunities, compare locations, and speed up due diligence.</a:t>
            </a:r>
            <a:endParaRPr sz="1600" b="0" i="0" u="none" strike="noStrike" cap="none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741150" y="1874525"/>
            <a:ext cx="3479400" cy="1642800"/>
          </a:xfrm>
          <a:prstGeom prst="roundRect">
            <a:avLst>
              <a:gd name="adj" fmla="val 5517"/>
            </a:avLst>
          </a:prstGeom>
          <a:solidFill>
            <a:srgbClr val="FFFFFF">
              <a:alpha val="94901"/>
            </a:srgbClr>
          </a:solidFill>
          <a:ln w="138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275" tIns="99275" rIns="99275" bIns="99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endParaRPr sz="24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890100" y="2092976"/>
            <a:ext cx="89400" cy="1119900"/>
          </a:xfrm>
          <a:prstGeom prst="rect">
            <a:avLst/>
          </a:prstGeom>
          <a:solidFill>
            <a:srgbClr val="FFC000"/>
          </a:solidFill>
          <a:ln w="138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275" tIns="99275" rIns="99275" bIns="99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endParaRPr sz="15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088701" y="2092975"/>
            <a:ext cx="251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520"/>
              <a:buFont typeface="Georgia"/>
              <a:buNone/>
            </a:pPr>
            <a:r>
              <a:rPr lang="en-US" sz="16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Developers</a:t>
            </a:r>
            <a:endParaRPr sz="16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088700" y="2450423"/>
            <a:ext cx="2333400" cy="7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5" tIns="825" rIns="825" bIns="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49"/>
              <a:buFont typeface="Georgia"/>
              <a:buNone/>
            </a:pPr>
            <a:r>
              <a:rPr lang="en-US" sz="16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Understand features and locations before allocating capital.</a:t>
            </a:r>
            <a:endParaRPr sz="16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8442425" y="1874525"/>
            <a:ext cx="3199800" cy="1642800"/>
          </a:xfrm>
          <a:prstGeom prst="roundRect">
            <a:avLst>
              <a:gd name="adj" fmla="val 5517"/>
            </a:avLst>
          </a:prstGeom>
          <a:solidFill>
            <a:srgbClr val="FFFFFF">
              <a:alpha val="94901"/>
            </a:srgbClr>
          </a:solidFill>
          <a:ln w="138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275" tIns="99275" rIns="99275" bIns="99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endParaRPr sz="24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8611850" y="2092976"/>
            <a:ext cx="89400" cy="1119900"/>
          </a:xfrm>
          <a:prstGeom prst="rect">
            <a:avLst/>
          </a:prstGeom>
          <a:solidFill>
            <a:srgbClr val="005425"/>
          </a:solidFill>
          <a:ln w="13800" cap="flat" cmpd="sng">
            <a:solidFill>
              <a:srgbClr val="005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275" tIns="99275" rIns="99275" bIns="99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endParaRPr sz="15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8961175" y="2092976"/>
            <a:ext cx="2514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520"/>
              <a:buFont typeface="Georgia"/>
              <a:buNone/>
            </a:pPr>
            <a:r>
              <a:rPr lang="en-US" sz="16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Property tech platforms</a:t>
            </a:r>
            <a:endParaRPr sz="16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8961175" y="2450423"/>
            <a:ext cx="2333400" cy="7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5" tIns="825" rIns="825" bIns="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49"/>
              <a:buFont typeface="Georgia"/>
              <a:buNone/>
            </a:pPr>
            <a:r>
              <a:rPr lang="en-US" sz="16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Automate price estimation and market insight.</a:t>
            </a:r>
            <a:endParaRPr sz="16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868675" y="3794750"/>
            <a:ext cx="3479400" cy="1642800"/>
          </a:xfrm>
          <a:prstGeom prst="roundRect">
            <a:avLst>
              <a:gd name="adj" fmla="val 5517"/>
            </a:avLst>
          </a:prstGeom>
          <a:solidFill>
            <a:srgbClr val="FFFFFF">
              <a:alpha val="94901"/>
            </a:srgbClr>
          </a:solidFill>
          <a:ln w="138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275" tIns="99275" rIns="99275" bIns="99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endParaRPr sz="15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1017600" y="4013177"/>
            <a:ext cx="89400" cy="1119900"/>
          </a:xfrm>
          <a:prstGeom prst="rect">
            <a:avLst/>
          </a:prstGeom>
          <a:solidFill>
            <a:srgbClr val="E31B23"/>
          </a:solidFill>
          <a:ln w="13800" cap="flat" cmpd="sng">
            <a:solidFill>
              <a:srgbClr val="E31B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275" tIns="99275" rIns="99275" bIns="99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endParaRPr sz="15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1216157" y="4013167"/>
            <a:ext cx="238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520"/>
              <a:buFont typeface="Georgia"/>
              <a:buNone/>
            </a:pPr>
            <a:r>
              <a:rPr lang="en-US" sz="16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REIT-style analysts</a:t>
            </a:r>
            <a:endParaRPr sz="16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216150" y="4370574"/>
            <a:ext cx="2333100" cy="7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5" tIns="825" rIns="825" bIns="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49"/>
              <a:buFont typeface="Georgia"/>
              <a:buNone/>
            </a:pPr>
            <a:r>
              <a:rPr lang="en-US" sz="16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Support property screening and portfolio comparison.</a:t>
            </a:r>
            <a:endParaRPr sz="16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740625" y="3794750"/>
            <a:ext cx="3479400" cy="1642800"/>
          </a:xfrm>
          <a:prstGeom prst="roundRect">
            <a:avLst>
              <a:gd name="adj" fmla="val 5517"/>
            </a:avLst>
          </a:prstGeom>
          <a:solidFill>
            <a:srgbClr val="FFFFFF">
              <a:alpha val="94901"/>
            </a:srgbClr>
          </a:solidFill>
          <a:ln w="138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275" tIns="99275" rIns="99275" bIns="99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endParaRPr sz="15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889550" y="4013177"/>
            <a:ext cx="89400" cy="1119900"/>
          </a:xfrm>
          <a:prstGeom prst="rect">
            <a:avLst/>
          </a:prstGeom>
          <a:solidFill>
            <a:srgbClr val="FFC000"/>
          </a:solidFill>
          <a:ln w="138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275" tIns="99275" rIns="99275" bIns="99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endParaRPr sz="15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088108" y="4013167"/>
            <a:ext cx="238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520"/>
              <a:buFont typeface="Georgia"/>
              <a:buNone/>
            </a:pPr>
            <a:r>
              <a:rPr lang="en-US" sz="16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Banks and lenders</a:t>
            </a:r>
            <a:endParaRPr sz="16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088100" y="4370574"/>
            <a:ext cx="2333100" cy="7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5" tIns="825" rIns="825" bIns="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49"/>
              <a:buFont typeface="Georgia"/>
              <a:buNone/>
            </a:pPr>
            <a:r>
              <a:rPr lang="en-US" sz="16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Use valuation signals as additional collateral context.</a:t>
            </a:r>
            <a:endParaRPr sz="16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8440975" y="3794750"/>
            <a:ext cx="3199800" cy="1642800"/>
          </a:xfrm>
          <a:prstGeom prst="roundRect">
            <a:avLst>
              <a:gd name="adj" fmla="val 5517"/>
            </a:avLst>
          </a:prstGeom>
          <a:solidFill>
            <a:srgbClr val="FFFFFF">
              <a:alpha val="94901"/>
            </a:srgbClr>
          </a:solidFill>
          <a:ln w="138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275" tIns="99275" rIns="99275" bIns="99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endParaRPr sz="15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8761500" y="4013177"/>
            <a:ext cx="89400" cy="1119900"/>
          </a:xfrm>
          <a:prstGeom prst="rect">
            <a:avLst/>
          </a:prstGeom>
          <a:solidFill>
            <a:srgbClr val="005425"/>
          </a:solidFill>
          <a:ln w="13800" cap="flat" cmpd="sng">
            <a:solidFill>
              <a:srgbClr val="005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275" tIns="99275" rIns="99275" bIns="99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0"/>
              <a:buFont typeface="Arial"/>
              <a:buNone/>
            </a:pPr>
            <a:endParaRPr sz="152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8960058" y="4013167"/>
            <a:ext cx="2382600" cy="2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520"/>
              <a:buFont typeface="Georgia"/>
              <a:buNone/>
            </a:pPr>
            <a:r>
              <a:rPr lang="en-US" sz="16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Urban planners</a:t>
            </a:r>
            <a:endParaRPr sz="16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8960050" y="4370575"/>
            <a:ext cx="2514600" cy="7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5" tIns="825" rIns="825" bIns="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49"/>
              <a:buFont typeface="Georgia"/>
              <a:buNone/>
            </a:pPr>
            <a:r>
              <a:rPr lang="en-US" sz="16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Understand spatial pricing and infrastructure-linked patterns.</a:t>
            </a:r>
            <a:endParaRPr sz="16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783075" y="5681725"/>
            <a:ext cx="9098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600"/>
              <a:buFont typeface="Georgia"/>
              <a:buNone/>
            </a:pPr>
            <a:r>
              <a:rPr lang="en-US" sz="24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One workflow, many decision-makers.</a:t>
            </a:r>
            <a:endParaRPr sz="24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7" descr="/mnt/data/template_pages/page-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7"/>
          <p:cNvSpPr/>
          <p:nvPr/>
        </p:nvSpPr>
        <p:spPr>
          <a:xfrm>
            <a:off x="0" y="0"/>
            <a:ext cx="12191695" cy="1572768"/>
          </a:xfrm>
          <a:prstGeom prst="rect">
            <a:avLst/>
          </a:prstGeom>
          <a:solidFill>
            <a:srgbClr val="005425"/>
          </a:solidFill>
          <a:ln w="12700" cap="flat" cmpd="sng">
            <a:solidFill>
              <a:srgbClr val="005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932688" y="0"/>
            <a:ext cx="347472" cy="896112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783080" y="521208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50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DATASET</a:t>
            </a:r>
            <a:endParaRPr sz="5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0881360" y="438912"/>
            <a:ext cx="685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sz="19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777252" y="1874526"/>
            <a:ext cx="2440200" cy="1572600"/>
          </a:xfrm>
          <a:prstGeom prst="roundRect">
            <a:avLst>
              <a:gd name="adj" fmla="val 5517"/>
            </a:avLst>
          </a:prstGeom>
          <a:solidFill>
            <a:srgbClr val="FFFFFF">
              <a:alpha val="94901"/>
            </a:srgbClr>
          </a:solidFill>
          <a:ln w="15075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450" tIns="108450" rIns="108450" bIns="108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endParaRPr sz="166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885710" y="2026367"/>
            <a:ext cx="22233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2609"/>
              <a:buFont typeface="Georgia"/>
              <a:buNone/>
            </a:pPr>
            <a:r>
              <a:rPr lang="en-US" sz="3084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24,326</a:t>
            </a:r>
            <a:endParaRPr sz="3084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885710" y="2783900"/>
            <a:ext cx="222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5"/>
              <a:buFont typeface="Georgia"/>
              <a:buNone/>
            </a:pPr>
            <a:r>
              <a:rPr lang="en-US" sz="1661" b="1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ROWS</a:t>
            </a:r>
            <a:endParaRPr sz="1661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3488688" y="1874526"/>
            <a:ext cx="2440200" cy="1572600"/>
          </a:xfrm>
          <a:prstGeom prst="roundRect">
            <a:avLst>
              <a:gd name="adj" fmla="val 5517"/>
            </a:avLst>
          </a:prstGeom>
          <a:solidFill>
            <a:srgbClr val="FFFFFF">
              <a:alpha val="94901"/>
            </a:srgbClr>
          </a:solidFill>
          <a:ln w="15075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450" tIns="108450" rIns="108450" bIns="108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endParaRPr sz="166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3597145" y="2026367"/>
            <a:ext cx="22233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2609"/>
              <a:buFont typeface="Georgia"/>
              <a:buNone/>
            </a:pPr>
            <a:r>
              <a:rPr lang="en-US" sz="3084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25</a:t>
            </a:r>
            <a:endParaRPr sz="3084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3597145" y="2783900"/>
            <a:ext cx="222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5"/>
              <a:buFont typeface="Georgia"/>
              <a:buNone/>
            </a:pPr>
            <a:r>
              <a:rPr lang="en-US" sz="1661" b="1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STATES</a:t>
            </a:r>
            <a:endParaRPr sz="1661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200124" y="1874526"/>
            <a:ext cx="2440200" cy="1572600"/>
          </a:xfrm>
          <a:prstGeom prst="roundRect">
            <a:avLst>
              <a:gd name="adj" fmla="val 5517"/>
            </a:avLst>
          </a:prstGeom>
          <a:solidFill>
            <a:srgbClr val="FFFFFF">
              <a:alpha val="94901"/>
            </a:srgbClr>
          </a:solidFill>
          <a:ln w="15075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450" tIns="108450" rIns="108450" bIns="108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endParaRPr sz="166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308581" y="2026367"/>
            <a:ext cx="22233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2609"/>
              <a:buFont typeface="Georgia"/>
              <a:buNone/>
            </a:pPr>
            <a:r>
              <a:rPr lang="en-US" sz="3084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189</a:t>
            </a:r>
            <a:endParaRPr sz="3084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308581" y="2783900"/>
            <a:ext cx="222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5"/>
              <a:buFont typeface="Georgia"/>
              <a:buNone/>
            </a:pPr>
            <a:r>
              <a:rPr lang="en-US" sz="1661" b="1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TOWNS</a:t>
            </a:r>
            <a:endParaRPr sz="1661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8911559" y="1874526"/>
            <a:ext cx="2440200" cy="1572900"/>
          </a:xfrm>
          <a:prstGeom prst="roundRect">
            <a:avLst>
              <a:gd name="adj" fmla="val 5517"/>
            </a:avLst>
          </a:prstGeom>
          <a:solidFill>
            <a:srgbClr val="FFFFFF">
              <a:alpha val="94901"/>
            </a:srgbClr>
          </a:solidFill>
          <a:ln w="15075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450" tIns="108450" rIns="108450" bIns="108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1"/>
              <a:buFont typeface="Arial"/>
              <a:buNone/>
            </a:pPr>
            <a:endParaRPr sz="166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9020017" y="2026367"/>
            <a:ext cx="22233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2609"/>
              <a:buFont typeface="Georgia"/>
              <a:buNone/>
            </a:pPr>
            <a:r>
              <a:rPr lang="en-US" sz="3084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sz="3084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9020017" y="2783900"/>
            <a:ext cx="22233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5"/>
              <a:buFont typeface="Georgia"/>
              <a:buNone/>
            </a:pPr>
            <a:r>
              <a:rPr lang="en-US" sz="1661" b="1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PROPERTY TITLES</a:t>
            </a:r>
            <a:endParaRPr sz="1661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777250" y="3657600"/>
            <a:ext cx="10574400" cy="2073600"/>
          </a:xfrm>
          <a:prstGeom prst="roundRect">
            <a:avLst>
              <a:gd name="adj" fmla="val 4706"/>
            </a:avLst>
          </a:prstGeom>
          <a:solidFill>
            <a:srgbClr val="FFFFFF">
              <a:alpha val="94901"/>
            </a:srgbClr>
          </a:solidFill>
          <a:ln w="17375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5"/>
              <a:buFont typeface="Arial"/>
              <a:buNone/>
            </a:pPr>
            <a:endParaRPr sz="191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1285328" y="3970247"/>
            <a:ext cx="47760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504"/>
              <a:buFont typeface="Georgia"/>
              <a:buNone/>
            </a:pPr>
            <a:r>
              <a:rPr lang="en-US" sz="2735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CORE FIELDS</a:t>
            </a:r>
            <a:endParaRPr sz="2735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285325" y="4470476"/>
            <a:ext cx="9652800" cy="10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" tIns="675" rIns="675" bIns="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46"/>
              <a:buFont typeface="Georgia"/>
              <a:buNone/>
            </a:pPr>
            <a:r>
              <a:rPr lang="en-US" sz="2400" b="1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bedrooms   bathrooms   toilets   parking space</a:t>
            </a:r>
            <a:endParaRPr sz="24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46"/>
              <a:buFont typeface="Georgia"/>
              <a:buNone/>
            </a:pPr>
            <a:r>
              <a:rPr lang="en-US" sz="2400" b="1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property type   town   state   price</a:t>
            </a:r>
            <a:endParaRPr sz="24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8" descr="/mnt/data/template_pages/page-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8"/>
          <p:cNvSpPr/>
          <p:nvPr/>
        </p:nvSpPr>
        <p:spPr>
          <a:xfrm>
            <a:off x="0" y="0"/>
            <a:ext cx="12191695" cy="1572768"/>
          </a:xfrm>
          <a:prstGeom prst="rect">
            <a:avLst/>
          </a:prstGeom>
          <a:solidFill>
            <a:srgbClr val="005425"/>
          </a:solidFill>
          <a:ln w="12700" cap="flat" cmpd="sng">
            <a:solidFill>
              <a:srgbClr val="005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932688" y="0"/>
            <a:ext cx="347472" cy="896112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783080" y="521208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ML LIFECYCLE</a:t>
            </a:r>
            <a:endParaRPr sz="24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10881360" y="438912"/>
            <a:ext cx="685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06</a:t>
            </a:r>
            <a:endParaRPr sz="19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1965960" y="987552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F2EA"/>
              </a:buClr>
              <a:buSzPts val="1100"/>
              <a:buFont typeface="Georgia"/>
              <a:buNone/>
            </a:pPr>
            <a:r>
              <a:rPr lang="en-US" sz="1100" b="0" i="0" u="none" strike="noStrike" cap="none" dirty="0">
                <a:solidFill>
                  <a:srgbClr val="E6F2EA"/>
                </a:solidFill>
                <a:latin typeface="Georgia"/>
                <a:ea typeface="Georgia"/>
                <a:cs typeface="Georgia"/>
                <a:sym typeface="Georgia"/>
              </a:rPr>
              <a:t>The session follows the journey from raw data to decision support.</a:t>
            </a:r>
            <a:endParaRPr sz="1100" b="0" i="0" u="none" strike="noStrike" cap="none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685800" y="1828800"/>
            <a:ext cx="10195500" cy="3902400"/>
          </a:xfrm>
          <a:prstGeom prst="roundRect">
            <a:avLst>
              <a:gd name="adj" fmla="val 2192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8" title="ChatGPT Image Jul 8, 2026, 11_14_35 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1129" y="2074425"/>
            <a:ext cx="9600194" cy="365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9" descr="/mnt/data/template_pages/page-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9"/>
          <p:cNvSpPr/>
          <p:nvPr/>
        </p:nvSpPr>
        <p:spPr>
          <a:xfrm>
            <a:off x="0" y="0"/>
            <a:ext cx="12191695" cy="1572768"/>
          </a:xfrm>
          <a:prstGeom prst="rect">
            <a:avLst/>
          </a:prstGeom>
          <a:solidFill>
            <a:srgbClr val="005425"/>
          </a:solidFill>
          <a:ln w="12700" cap="flat" cmpd="sng">
            <a:solidFill>
              <a:srgbClr val="005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932688" y="0"/>
            <a:ext cx="347472" cy="896112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1783080" y="521208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 VALIDATION</a:t>
            </a:r>
            <a:endParaRPr sz="24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10881360" y="438912"/>
            <a:ext cx="685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07</a:t>
            </a:r>
            <a:endParaRPr sz="19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246750" y="1874525"/>
            <a:ext cx="5916000" cy="724500"/>
          </a:xfrm>
          <a:prstGeom prst="roundRect">
            <a:avLst>
              <a:gd name="adj" fmla="val 11111"/>
            </a:avLst>
          </a:prstGeom>
          <a:solidFill>
            <a:srgbClr val="005425"/>
          </a:solidFill>
          <a:ln w="12700" cap="flat" cmpd="sng">
            <a:solidFill>
              <a:srgbClr val="005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403750" y="1905500"/>
            <a:ext cx="5602500" cy="6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eorgia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AI is only useful when the data foundation is credible.</a:t>
            </a:r>
            <a:endParaRPr sz="2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6400800" y="1828800"/>
            <a:ext cx="5602500" cy="3218700"/>
          </a:xfrm>
          <a:prstGeom prst="roundRect">
            <a:avLst>
              <a:gd name="adj" fmla="val 2388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6629400" y="1911225"/>
            <a:ext cx="4937700" cy="7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100"/>
              <a:buFont typeface="Georgia"/>
              <a:buNone/>
            </a:pPr>
            <a:r>
              <a:rPr lang="en-US" sz="20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VALIDATION CHECKS</a:t>
            </a:r>
            <a:endParaRPr sz="2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6629400" y="2719350"/>
            <a:ext cx="4937700" cy="19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Georgia"/>
              <a:buChar char="●"/>
            </a:pPr>
            <a:r>
              <a:rPr lang="en-US" sz="18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21 </a:t>
            </a:r>
            <a:r>
              <a:rPr lang="en-US" sz="1800" b="0" i="1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pointblank</a:t>
            </a:r>
            <a:r>
              <a:rPr lang="en-US" sz="18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 checks run before modelling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Georgia"/>
              <a:buChar char="●"/>
            </a:pPr>
            <a:r>
              <a:rPr lang="en-US" sz="18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Positive price and sensible numeric ranges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Georgia"/>
              <a:buChar char="●"/>
            </a:pPr>
            <a:r>
              <a:rPr lang="en-US" sz="18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Required fields are present and non-missing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Georgia"/>
              <a:buChar char="●"/>
            </a:pPr>
            <a:r>
              <a:rPr lang="en-US" sz="18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Categorical values inspected for consistency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Georgia"/>
              <a:buChar char="●"/>
            </a:pPr>
            <a:r>
              <a:rPr lang="en-US" sz="18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Validation report saved for governance and auditability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246750" y="2971800"/>
            <a:ext cx="2844000" cy="2075700"/>
          </a:xfrm>
          <a:prstGeom prst="roundRect">
            <a:avLst>
              <a:gd name="adj" fmla="val 5333"/>
            </a:avLst>
          </a:prstGeom>
          <a:solidFill>
            <a:srgbClr val="FFFFFF">
              <a:alpha val="94901"/>
            </a:srgbClr>
          </a:solidFill>
          <a:ln w="15525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1675" tIns="111675" rIns="111675" bIns="111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0"/>
              <a:buFont typeface="Arial"/>
              <a:buNone/>
            </a:pPr>
            <a:endParaRPr sz="171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465855" y="3128187"/>
            <a:ext cx="25134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2688"/>
              <a:buFont typeface="Georgia"/>
              <a:buNone/>
            </a:pPr>
            <a:r>
              <a:rPr lang="en-US" sz="2688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21/21 OK</a:t>
            </a:r>
            <a:endParaRPr sz="2688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465855" y="3586177"/>
            <a:ext cx="25134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44"/>
              <a:buFont typeface="Georgia"/>
              <a:buNone/>
            </a:pPr>
            <a:r>
              <a:rPr lang="en-US" sz="1344" b="1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QUALITY SIGNAL</a:t>
            </a:r>
            <a:endParaRPr sz="1344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10525" y="3954800"/>
            <a:ext cx="2423700" cy="8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0" tIns="300" rIns="300" bIns="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61"/>
              <a:buFont typeface="Georgia"/>
              <a:buNone/>
            </a:pPr>
            <a:r>
              <a:rPr lang="en-US" b="0" i="0" u="none" strike="noStrike" cap="none">
                <a:solidFill>
                  <a:srgbClr val="4A4A4A"/>
                </a:solidFill>
                <a:latin typeface="Georgia"/>
                <a:ea typeface="Georgia"/>
                <a:cs typeface="Georgia"/>
                <a:sym typeface="Georgia"/>
              </a:rPr>
              <a:t>Validation reduces the risk of training on unreliable inputs.</a:t>
            </a:r>
            <a:endParaRPr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3426050" y="2971800"/>
            <a:ext cx="2736600" cy="2075700"/>
          </a:xfrm>
          <a:prstGeom prst="roundRect">
            <a:avLst>
              <a:gd name="adj" fmla="val 5333"/>
            </a:avLst>
          </a:prstGeom>
          <a:solidFill>
            <a:srgbClr val="FFFFFF">
              <a:alpha val="94901"/>
            </a:srgbClr>
          </a:solidFill>
          <a:ln w="15525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1675" tIns="111675" rIns="111675" bIns="1116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0"/>
              <a:buFont typeface="Arial"/>
              <a:buNone/>
            </a:pPr>
            <a:endParaRPr sz="171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3537750" y="3128187"/>
            <a:ext cx="25134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2688"/>
              <a:buFont typeface="Georgia"/>
              <a:buNone/>
            </a:pPr>
            <a:r>
              <a:rPr lang="en-US" sz="2688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TRUST</a:t>
            </a:r>
            <a:endParaRPr sz="2688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3537750" y="3586177"/>
            <a:ext cx="25134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44"/>
              <a:buFont typeface="Georgia"/>
              <a:buNone/>
            </a:pPr>
            <a:r>
              <a:rPr lang="en-US" sz="1344" b="1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BUSINESS SIGNAL</a:t>
            </a:r>
            <a:endParaRPr sz="1344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3582424" y="3954800"/>
            <a:ext cx="2423700" cy="8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0" tIns="300" rIns="300" bIns="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61"/>
              <a:buFont typeface="Georgia"/>
              <a:buNone/>
            </a:pPr>
            <a:r>
              <a:rPr lang="en-US" b="0" i="0" u="none" strike="noStrike" cap="none">
                <a:solidFill>
                  <a:srgbClr val="4A4A4A"/>
                </a:solidFill>
                <a:latin typeface="Georgia"/>
                <a:ea typeface="Georgia"/>
                <a:cs typeface="Georgia"/>
                <a:sym typeface="Georgia"/>
              </a:rPr>
              <a:t>Credible data improves confidence in pricing and screening outputs.</a:t>
            </a:r>
            <a:endParaRPr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979050" y="5303525"/>
            <a:ext cx="10233600" cy="6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300"/>
              <a:buFont typeface="Georgia"/>
              <a:buNone/>
            </a:pPr>
            <a:r>
              <a:rPr lang="en-US" sz="25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Validation report becomes an artifact for stakeholders.</a:t>
            </a:r>
            <a:endParaRPr sz="25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0" descr="/mnt/data/template_pages/page-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0"/>
          <p:cNvSpPr/>
          <p:nvPr/>
        </p:nvSpPr>
        <p:spPr>
          <a:xfrm>
            <a:off x="0" y="0"/>
            <a:ext cx="12191695" cy="1572768"/>
          </a:xfrm>
          <a:prstGeom prst="rect">
            <a:avLst/>
          </a:prstGeom>
          <a:solidFill>
            <a:srgbClr val="005425"/>
          </a:solidFill>
          <a:ln w="12700" cap="flat" cmpd="sng">
            <a:solidFill>
              <a:srgbClr val="005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932688" y="0"/>
            <a:ext cx="347472" cy="896112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1783080" y="521208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FEATURE ENGINEERING</a:t>
            </a:r>
            <a:endParaRPr sz="24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10881360" y="438912"/>
            <a:ext cx="685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08</a:t>
            </a:r>
            <a:endParaRPr sz="19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822960" y="1828800"/>
            <a:ext cx="2926080" cy="3063240"/>
          </a:xfrm>
          <a:prstGeom prst="roundRect">
            <a:avLst>
              <a:gd name="adj" fmla="val 2500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1051560" y="208483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100"/>
              <a:buFont typeface="Georgia"/>
              <a:buNone/>
            </a:pPr>
            <a:r>
              <a:rPr lang="en-US" sz="11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RAW PROPERTY ATTRIBUTES</a:t>
            </a:r>
            <a:endParaRPr sz="11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1051560" y="2468880"/>
            <a:ext cx="214884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2032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Georgia"/>
              <a:buChar char="•"/>
            </a:pPr>
            <a:r>
              <a:rPr lang="en-US" sz="13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Bedrooms</a:t>
            </a:r>
            <a:endParaRPr sz="13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032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Georgia"/>
              <a:buChar char="•"/>
            </a:pPr>
            <a:r>
              <a:rPr lang="en-US" sz="13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Bathrooms</a:t>
            </a:r>
            <a:endParaRPr sz="13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032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Georgia"/>
              <a:buChar char="•"/>
            </a:pPr>
            <a:r>
              <a:rPr lang="en-US" sz="13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Toilets</a:t>
            </a:r>
            <a:endParaRPr sz="13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032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Georgia"/>
              <a:buChar char="•"/>
            </a:pPr>
            <a:r>
              <a:rPr lang="en-US" sz="13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Parking space</a:t>
            </a:r>
            <a:endParaRPr sz="13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032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Georgia"/>
              <a:buChar char="•"/>
            </a:pPr>
            <a:r>
              <a:rPr lang="en-US" sz="13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Property type</a:t>
            </a:r>
            <a:endParaRPr sz="13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032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Georgia"/>
              <a:buChar char="•"/>
            </a:pPr>
            <a:r>
              <a:rPr lang="en-US" sz="13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Town</a:t>
            </a:r>
            <a:endParaRPr sz="13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032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Georgia"/>
              <a:buChar char="•"/>
            </a:pPr>
            <a:r>
              <a:rPr lang="en-US" sz="13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State</a:t>
            </a:r>
            <a:endParaRPr sz="13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032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Georgia"/>
              <a:buChar char="•"/>
            </a:pPr>
            <a:r>
              <a:rPr lang="en-US" sz="13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Price</a:t>
            </a:r>
            <a:endParaRPr sz="13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4069080" y="3063240"/>
            <a:ext cx="914400" cy="594360"/>
          </a:xfrm>
          <a:prstGeom prst="chevron">
            <a:avLst>
              <a:gd name="adj" fmla="val 50000"/>
            </a:avLst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5303520" y="182880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5532120" y="20848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100"/>
              <a:buFont typeface="Georgia"/>
              <a:buNone/>
            </a:pPr>
            <a:r>
              <a:rPr lang="en-US" sz="11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DERIVED BUSINESS SIGNALS</a:t>
            </a:r>
            <a:endParaRPr sz="11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5532120" y="2468880"/>
            <a:ext cx="470916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2032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80"/>
              <a:buFont typeface="Georgia"/>
              <a:buChar char="•"/>
            </a:pPr>
            <a:r>
              <a:rPr lang="en-US" sz="128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total_rooms: overall property capacity</a:t>
            </a:r>
            <a:endParaRPr sz="128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032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80"/>
              <a:buFont typeface="Georgia"/>
              <a:buChar char="•"/>
            </a:pPr>
            <a:r>
              <a:rPr lang="en-US" sz="128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bathroom_bedroom_ratio: comfort signal</a:t>
            </a:r>
            <a:endParaRPr sz="128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032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80"/>
              <a:buFont typeface="Georgia"/>
              <a:buChar char="•"/>
            </a:pPr>
            <a:r>
              <a:rPr lang="en-US" sz="128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toilet_bedroom_ratio: convenience signal</a:t>
            </a:r>
            <a:endParaRPr sz="128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032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80"/>
              <a:buFont typeface="Georgia"/>
              <a:buChar char="•"/>
            </a:pPr>
            <a:r>
              <a:rPr lang="en-US" sz="128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parking_per_bedroom: parking adequacy</a:t>
            </a:r>
            <a:endParaRPr sz="128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032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80"/>
              <a:buFont typeface="Georgia"/>
              <a:buChar char="•"/>
            </a:pPr>
            <a:r>
              <a:rPr lang="en-US" sz="128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location and property encodings: model-ready market signals</a:t>
            </a:r>
            <a:endParaRPr sz="128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032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80"/>
              <a:buFont typeface="Georgia"/>
              <a:buChar char="•"/>
            </a:pPr>
            <a:r>
              <a:rPr lang="en-US" sz="128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log_price: stable target for skewed house prices</a:t>
            </a:r>
            <a:endParaRPr sz="128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1280150" y="5230375"/>
            <a:ext cx="9139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300"/>
              <a:buFont typeface="Georgia"/>
              <a:buNone/>
            </a:pPr>
            <a:r>
              <a:rPr lang="en-US" sz="18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Feature engineering is where raw records become decision-ready variables.</a:t>
            </a:r>
            <a:endParaRPr sz="1800" b="1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1" descr="/mnt/data/template_pages/page-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1"/>
          <p:cNvSpPr/>
          <p:nvPr/>
        </p:nvSpPr>
        <p:spPr>
          <a:xfrm>
            <a:off x="0" y="0"/>
            <a:ext cx="12191695" cy="1572768"/>
          </a:xfrm>
          <a:prstGeom prst="rect">
            <a:avLst/>
          </a:prstGeom>
          <a:solidFill>
            <a:srgbClr val="005425"/>
          </a:solidFill>
          <a:ln w="12700" cap="flat" cmpd="sng">
            <a:solidFill>
              <a:srgbClr val="005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932688" y="0"/>
            <a:ext cx="347472" cy="896112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1783080" y="521208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MODEL TRAINING</a:t>
            </a:r>
            <a:endParaRPr sz="24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10881360" y="438912"/>
            <a:ext cx="685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09</a:t>
            </a:r>
            <a:endParaRPr sz="19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1965960" y="987552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F2EA"/>
              </a:buClr>
              <a:buSzPts val="1100"/>
              <a:buFont typeface="Georgia"/>
              <a:buNone/>
            </a:pPr>
            <a:r>
              <a:rPr lang="en-US" sz="1100" b="0" i="0" u="none" strike="noStrike" cap="none">
                <a:solidFill>
                  <a:srgbClr val="E6F2EA"/>
                </a:solidFill>
                <a:latin typeface="Georgia"/>
                <a:ea typeface="Georgia"/>
                <a:cs typeface="Georgia"/>
                <a:sym typeface="Georgia"/>
              </a:rPr>
              <a:t>From baseline model to advanced predictive models.</a:t>
            </a:r>
            <a:endParaRPr sz="11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868675" y="1920255"/>
            <a:ext cx="2971800" cy="3639900"/>
          </a:xfrm>
          <a:prstGeom prst="roundRect">
            <a:avLst>
              <a:gd name="adj" fmla="val 3019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1097280" y="224028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B23"/>
              </a:buClr>
              <a:buSzPts val="2000"/>
              <a:buFont typeface="Georgia"/>
              <a:buNone/>
            </a:pPr>
            <a:r>
              <a:rPr lang="en-US" sz="2000" b="1" i="0" u="none" strike="noStrike" cap="none">
                <a:solidFill>
                  <a:srgbClr val="E31B23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1097275" y="2651733"/>
            <a:ext cx="23775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500"/>
              <a:buFont typeface="Georgia"/>
              <a:buNone/>
            </a:pPr>
            <a:r>
              <a:rPr lang="en-US" sz="22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Linear regression baseline</a:t>
            </a:r>
            <a:endParaRPr sz="22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1097275" y="3367101"/>
            <a:ext cx="2286000" cy="19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Georgia"/>
              <a:buNone/>
            </a:pPr>
            <a:r>
              <a:rPr lang="en-US" sz="22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A simple, interpretable benchmark.</a:t>
            </a:r>
            <a:endParaRPr sz="22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4526275" y="1920255"/>
            <a:ext cx="2971800" cy="3639900"/>
          </a:xfrm>
          <a:prstGeom prst="roundRect">
            <a:avLst>
              <a:gd name="adj" fmla="val 3019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4754880" y="224028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000"/>
              <a:buFont typeface="Georgia"/>
              <a:buNone/>
            </a:pPr>
            <a:r>
              <a:rPr lang="en-US" sz="2000" b="1" i="0" u="none" strike="noStrike" cap="none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4754875" y="2651725"/>
            <a:ext cx="18231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500"/>
              <a:buFont typeface="Georgia"/>
              <a:buNone/>
            </a:pPr>
            <a:r>
              <a:rPr lang="en-US" sz="22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Random forest</a:t>
            </a:r>
            <a:endParaRPr sz="22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4640575" y="3367100"/>
            <a:ext cx="2286000" cy="19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Georgia"/>
              <a:buNone/>
            </a:pPr>
            <a:r>
              <a:rPr lang="en-US" sz="22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Captures non-linear relationships and interactions in tabular data.</a:t>
            </a:r>
            <a:endParaRPr sz="22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8183875" y="1920255"/>
            <a:ext cx="2743200" cy="3639900"/>
          </a:xfrm>
          <a:prstGeom prst="roundRect">
            <a:avLst>
              <a:gd name="adj" fmla="val 3019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8412480" y="224028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2000"/>
              <a:buFont typeface="Georgia"/>
              <a:buNone/>
            </a:pPr>
            <a:r>
              <a:rPr lang="en-US" sz="20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8412475" y="2651735"/>
            <a:ext cx="2103000" cy="7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500"/>
              <a:buFont typeface="Georgia"/>
              <a:buNone/>
            </a:pPr>
            <a:r>
              <a:rPr lang="en-US" sz="22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XGBoost</a:t>
            </a:r>
            <a:endParaRPr sz="22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8389588" y="3367101"/>
            <a:ext cx="2148900" cy="19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Georgia"/>
              <a:buNone/>
            </a:pPr>
            <a:r>
              <a:rPr lang="en-US" sz="22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A boosted tree model for stronger predictive performance and ranking.</a:t>
            </a:r>
            <a:endParaRPr sz="22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2" descr="/mnt/data/template_pages/page-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2"/>
          <p:cNvSpPr/>
          <p:nvPr/>
        </p:nvSpPr>
        <p:spPr>
          <a:xfrm>
            <a:off x="0" y="0"/>
            <a:ext cx="12191695" cy="1572768"/>
          </a:xfrm>
          <a:prstGeom prst="rect">
            <a:avLst/>
          </a:prstGeom>
          <a:solidFill>
            <a:srgbClr val="005425"/>
          </a:solidFill>
          <a:ln w="12700" cap="flat" cmpd="sng">
            <a:solidFill>
              <a:srgbClr val="005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932688" y="0"/>
            <a:ext cx="347472" cy="896112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1783080" y="521208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EXPERIMENT TRACKING</a:t>
            </a:r>
            <a:endParaRPr sz="24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10881360" y="438912"/>
            <a:ext cx="685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10</a:t>
            </a:r>
            <a:endParaRPr sz="19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1965960" y="987552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F2EA"/>
              </a:buClr>
              <a:buSzPts val="1100"/>
              <a:buFont typeface="Georgia"/>
              <a:buNone/>
            </a:pPr>
            <a:r>
              <a:rPr lang="en-US" sz="1100" b="0" i="0" u="none" strike="noStrike" cap="none">
                <a:solidFill>
                  <a:srgbClr val="E6F2EA"/>
                </a:solidFill>
                <a:latin typeface="Georgia"/>
                <a:ea typeface="Georgia"/>
                <a:cs typeface="Georgia"/>
                <a:sym typeface="Georgia"/>
              </a:rPr>
              <a:t>Logging metrics, parameters, hyperparameters, and artifacts.</a:t>
            </a:r>
            <a:endParaRPr sz="11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868675" y="1828800"/>
            <a:ext cx="4800600" cy="4056900"/>
          </a:xfrm>
          <a:prstGeom prst="roundRect">
            <a:avLst>
              <a:gd name="adj" fmla="val 2254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1097268" y="2103132"/>
            <a:ext cx="3809400" cy="5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100"/>
              <a:buFont typeface="Georgia"/>
              <a:buNone/>
            </a:pPr>
            <a:r>
              <a:rPr lang="en-US" sz="22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WHAT WE LOG</a:t>
            </a:r>
            <a:endParaRPr sz="22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1097275" y="2862075"/>
            <a:ext cx="4330500" cy="27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Char char="●"/>
            </a:pPr>
            <a:r>
              <a:rPr lang="en-US" sz="20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Experiment names and run context</a:t>
            </a:r>
            <a:endParaRPr sz="2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Char char="●"/>
            </a:pPr>
            <a:r>
              <a:rPr lang="en-US" sz="20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Model type and hyperparameters</a:t>
            </a:r>
            <a:endParaRPr sz="2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Char char="●"/>
            </a:pPr>
            <a:r>
              <a:rPr lang="en-US" sz="20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Evaluation metrics: RMSE, MAE, R²</a:t>
            </a:r>
            <a:endParaRPr sz="2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Char char="●"/>
            </a:pPr>
            <a:r>
              <a:rPr lang="en-US" sz="20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Predictions and business screening outputs</a:t>
            </a:r>
            <a:endParaRPr sz="2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Char char="●"/>
            </a:pPr>
            <a:r>
              <a:rPr lang="en-US" sz="20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Figures, reports, and model artifacts</a:t>
            </a:r>
            <a:endParaRPr sz="2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6355075" y="1828800"/>
            <a:ext cx="4526400" cy="4056900"/>
          </a:xfrm>
          <a:prstGeom prst="roundRect">
            <a:avLst>
              <a:gd name="adj" fmla="val 2254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6583670" y="2103131"/>
            <a:ext cx="3809400" cy="5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100"/>
              <a:buFont typeface="Georgia"/>
              <a:buNone/>
            </a:pPr>
            <a:r>
              <a:rPr lang="en-US" sz="22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WHY IT MATTERS</a:t>
            </a:r>
            <a:endParaRPr sz="22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6583675" y="2862000"/>
            <a:ext cx="3977700" cy="27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Char char="●"/>
            </a:pPr>
            <a:r>
              <a:rPr lang="en-US" sz="20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Improves reproducibility and workshop credibility</a:t>
            </a:r>
            <a:endParaRPr sz="2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Char char="●"/>
            </a:pPr>
            <a:r>
              <a:rPr lang="en-US" sz="20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Makes model comparison auditable</a:t>
            </a:r>
            <a:endParaRPr sz="2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Char char="●"/>
            </a:pPr>
            <a:r>
              <a:rPr lang="en-US" sz="20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Supports handover to technical teams</a:t>
            </a:r>
            <a:endParaRPr sz="2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Georgia"/>
              <a:buChar char="●"/>
            </a:pPr>
            <a:r>
              <a:rPr lang="en-US" sz="20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Creates evidence for governance and future improvement</a:t>
            </a:r>
            <a:endParaRPr sz="20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3" descr="/mnt/data/template_pages/page-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3"/>
          <p:cNvSpPr/>
          <p:nvPr/>
        </p:nvSpPr>
        <p:spPr>
          <a:xfrm>
            <a:off x="0" y="0"/>
            <a:ext cx="12191695" cy="1572768"/>
          </a:xfrm>
          <a:prstGeom prst="rect">
            <a:avLst/>
          </a:prstGeom>
          <a:solidFill>
            <a:srgbClr val="005425"/>
          </a:solidFill>
          <a:ln w="12700" cap="flat" cmpd="sng">
            <a:solidFill>
              <a:srgbClr val="005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932688" y="0"/>
            <a:ext cx="347472" cy="896112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1783080" y="521208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MODEL COMPARISON</a:t>
            </a:r>
            <a:endParaRPr sz="24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10881360" y="438912"/>
            <a:ext cx="685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11</a:t>
            </a:r>
            <a:endParaRPr sz="19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1965960" y="987552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F2EA"/>
              </a:buClr>
              <a:buSzPts val="1100"/>
              <a:buFont typeface="Georgia"/>
              <a:buNone/>
            </a:pPr>
            <a:r>
              <a:rPr lang="en-US" sz="1100" b="0" i="0" u="none" strike="noStrike" cap="none">
                <a:solidFill>
                  <a:srgbClr val="E6F2EA"/>
                </a:solidFill>
                <a:latin typeface="Georgia"/>
                <a:ea typeface="Georgia"/>
                <a:cs typeface="Georgia"/>
                <a:sym typeface="Georgia"/>
              </a:rPr>
              <a:t>Which model should the business trust?</a:t>
            </a:r>
            <a:endParaRPr sz="11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36" name="Google Shape;23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8675" y="1901949"/>
            <a:ext cx="5212076" cy="40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3"/>
          <p:cNvSpPr/>
          <p:nvPr/>
        </p:nvSpPr>
        <p:spPr>
          <a:xfrm>
            <a:off x="6446520" y="1874520"/>
            <a:ext cx="443484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6720850" y="2020876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800"/>
              <a:buFont typeface="Georgia"/>
              <a:buNone/>
            </a:pPr>
            <a:r>
              <a:rPr lang="en-US" sz="22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Best model: XGBoost</a:t>
            </a:r>
            <a:endParaRPr sz="22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6720850" y="2542015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Georgia"/>
              <a:buNone/>
            </a:pPr>
            <a:r>
              <a:rPr lang="en-US" b="1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RMSE 0.698  |  MAE 0.493  |  R² 0.648</a:t>
            </a:r>
            <a:endParaRPr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6446525" y="3246128"/>
            <a:ext cx="4434900" cy="2661000"/>
          </a:xfrm>
          <a:prstGeom prst="roundRect">
            <a:avLst>
              <a:gd name="adj" fmla="val 4571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6720850" y="3520463"/>
            <a:ext cx="3703200" cy="20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Georgia"/>
              <a:buChar char="●"/>
            </a:pPr>
            <a:r>
              <a:rPr lang="en-US" sz="18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XGBoost was the strongest performer.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Georgia"/>
              <a:buChar char="●"/>
            </a:pPr>
            <a:r>
              <a:rPr lang="en-US" sz="18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Random forest was a close second.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Georgia"/>
              <a:buChar char="●"/>
            </a:pPr>
            <a:r>
              <a:rPr lang="en-US" sz="18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Linear regression remains a useful baseline but captured less variation.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14" descr="/mnt/data/template_pages/page-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4"/>
          <p:cNvSpPr/>
          <p:nvPr/>
        </p:nvSpPr>
        <p:spPr>
          <a:xfrm>
            <a:off x="0" y="0"/>
            <a:ext cx="12191695" cy="1572768"/>
          </a:xfrm>
          <a:prstGeom prst="rect">
            <a:avLst/>
          </a:prstGeom>
          <a:solidFill>
            <a:srgbClr val="005425"/>
          </a:solidFill>
          <a:ln w="12700" cap="flat" cmpd="sng">
            <a:solidFill>
              <a:srgbClr val="005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932688" y="0"/>
            <a:ext cx="347472" cy="896112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1783080" y="521208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BUSINESS INSIGHT LAYER</a:t>
            </a:r>
            <a:endParaRPr sz="24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10881360" y="438912"/>
            <a:ext cx="685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12</a:t>
            </a:r>
            <a:endParaRPr sz="19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1965960" y="987552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F2EA"/>
              </a:buClr>
              <a:buSzPts val="1100"/>
              <a:buFont typeface="Georgia"/>
              <a:buNone/>
            </a:pPr>
            <a:r>
              <a:rPr lang="en-US" sz="1100" b="0" i="0" u="none" strike="noStrike" cap="none">
                <a:solidFill>
                  <a:srgbClr val="E6F2EA"/>
                </a:solidFill>
                <a:latin typeface="Georgia"/>
                <a:ea typeface="Georgia"/>
                <a:cs typeface="Georgia"/>
                <a:sym typeface="Georgia"/>
              </a:rPr>
              <a:t>Move from prediction to action.</a:t>
            </a:r>
            <a:endParaRPr sz="11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822950" y="1828800"/>
            <a:ext cx="2377500" cy="1512600"/>
          </a:xfrm>
          <a:prstGeom prst="roundRect">
            <a:avLst>
              <a:gd name="adj" fmla="val 6400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1051560" y="205740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100"/>
              <a:buFont typeface="Georgia"/>
              <a:buNone/>
            </a:pPr>
            <a:r>
              <a:rPr lang="en-US" sz="11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PRICING GAP</a:t>
            </a:r>
            <a:endParaRPr sz="11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1051550" y="2395725"/>
            <a:ext cx="1986300" cy="6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0"/>
              <a:buFont typeface="Georgia"/>
              <a:buNone/>
            </a:pPr>
            <a:r>
              <a:rPr lang="en-US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Actual price minus predicted price flags unusual listings.</a:t>
            </a:r>
            <a:endParaRPr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3428994" y="1828800"/>
            <a:ext cx="2377500" cy="1512600"/>
          </a:xfrm>
          <a:prstGeom prst="roundRect">
            <a:avLst>
              <a:gd name="adj" fmla="val 6400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3657600" y="205740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100"/>
              <a:buFont typeface="Georgia"/>
              <a:buNone/>
            </a:pPr>
            <a:r>
              <a:rPr lang="en-US" sz="11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LOCATION RANKING</a:t>
            </a:r>
            <a:endParaRPr sz="11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3657600" y="2395725"/>
            <a:ext cx="1986300" cy="6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0"/>
              <a:buFont typeface="Georgia"/>
              <a:buNone/>
            </a:pPr>
            <a:r>
              <a:rPr lang="en-US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Summarise market patterns by town and state.</a:t>
            </a:r>
            <a:endParaRPr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6035038" y="1828800"/>
            <a:ext cx="2377500" cy="1512600"/>
          </a:xfrm>
          <a:prstGeom prst="roundRect">
            <a:avLst>
              <a:gd name="adj" fmla="val 6400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6263640" y="20574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100"/>
              <a:buFont typeface="Georgia"/>
              <a:buNone/>
            </a:pPr>
            <a:r>
              <a:rPr lang="en-US" sz="11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FEATURE IMPORTANCE</a:t>
            </a:r>
            <a:endParaRPr sz="11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6263650" y="2395722"/>
            <a:ext cx="1828800" cy="6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0"/>
              <a:buFont typeface="Georgia"/>
              <a:buNone/>
            </a:pPr>
            <a:r>
              <a:rPr lang="en-US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Show which variables drive price differences.</a:t>
            </a:r>
            <a:endParaRPr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8641082" y="1828800"/>
            <a:ext cx="2377500" cy="1512600"/>
          </a:xfrm>
          <a:prstGeom prst="roundRect">
            <a:avLst>
              <a:gd name="adj" fmla="val 6400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8869680" y="205740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100"/>
              <a:buFont typeface="Georgia"/>
              <a:buNone/>
            </a:pPr>
            <a:r>
              <a:rPr lang="en-US" sz="11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MARKET SIGNALS</a:t>
            </a:r>
            <a:endParaRPr sz="11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8869675" y="2395722"/>
            <a:ext cx="1828800" cy="6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0"/>
              <a:buFont typeface="Georgia"/>
              <a:buNone/>
            </a:pPr>
            <a:r>
              <a:rPr lang="en-US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Separate opportunities from anomalies.</a:t>
            </a:r>
            <a:endParaRPr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822950" y="3657600"/>
            <a:ext cx="4983600" cy="2079300"/>
          </a:xfrm>
          <a:prstGeom prst="roundRect">
            <a:avLst>
              <a:gd name="adj" fmla="val 5714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1083200" y="3738656"/>
            <a:ext cx="44631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100"/>
              <a:buFont typeface="Georgia"/>
              <a:buNone/>
            </a:pPr>
            <a:r>
              <a:rPr lang="en-US" sz="180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CANDIDATE TABLE INTERPRETATION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1234450" y="4301150"/>
            <a:ext cx="4311900" cy="13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Georgia"/>
              <a:buChar char="●"/>
            </a:pPr>
            <a:r>
              <a:rPr lang="en-US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Potential opportunity: below model estimate</a:t>
            </a:r>
            <a:endParaRPr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Georgia"/>
              <a:buChar char="●"/>
            </a:pPr>
            <a:r>
              <a:rPr lang="en-US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Close to model estimate</a:t>
            </a:r>
            <a:endParaRPr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Georgia"/>
              <a:buChar char="●"/>
            </a:pPr>
            <a:r>
              <a:rPr lang="en-US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Potentially above model estimate</a:t>
            </a:r>
            <a:endParaRPr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Georgia"/>
              <a:buChar char="●"/>
            </a:pPr>
            <a:r>
              <a:rPr lang="en-US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Data quality review: unusually below estimate</a:t>
            </a:r>
            <a:endParaRPr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6035050" y="3675900"/>
            <a:ext cx="4983600" cy="2079300"/>
          </a:xfrm>
          <a:prstGeom prst="roundRect">
            <a:avLst>
              <a:gd name="adj" fmla="val 5926"/>
            </a:avLst>
          </a:prstGeom>
          <a:solidFill>
            <a:srgbClr val="005425"/>
          </a:solidFill>
          <a:ln w="12700" cap="flat" cmpd="sng">
            <a:solidFill>
              <a:srgbClr val="005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6126475" y="3794750"/>
            <a:ext cx="4755000" cy="18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Georg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model does not say “buy this property now.” It says “this listing behaves differently from the market pattern and deserves investigation.”</a:t>
            </a:r>
            <a:endParaRPr sz="16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15" descr="/mnt/data/template_pages/page-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5"/>
          <p:cNvSpPr/>
          <p:nvPr/>
        </p:nvSpPr>
        <p:spPr>
          <a:xfrm>
            <a:off x="0" y="0"/>
            <a:ext cx="12191695" cy="1572768"/>
          </a:xfrm>
          <a:prstGeom prst="rect">
            <a:avLst/>
          </a:prstGeom>
          <a:solidFill>
            <a:srgbClr val="005425"/>
          </a:solidFill>
          <a:ln w="12700" cap="flat" cmpd="sng">
            <a:solidFill>
              <a:srgbClr val="005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932688" y="0"/>
            <a:ext cx="347472" cy="896112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1783080" y="521208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THIS MEANS FOR GROWTH</a:t>
            </a:r>
            <a:endParaRPr sz="24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10881360" y="438912"/>
            <a:ext cx="685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900"/>
              <a:buFont typeface="Georgia"/>
              <a:buNone/>
            </a:pPr>
            <a:r>
              <a:rPr lang="en-US" sz="1900" b="1" i="0" u="none" strike="noStrike" cap="none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13</a:t>
            </a:r>
            <a:endParaRPr sz="19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1965960" y="987552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F2EA"/>
              </a:buClr>
              <a:buSzPts val="1100"/>
              <a:buFont typeface="Georgia"/>
              <a:buNone/>
            </a:pPr>
            <a:r>
              <a:rPr lang="en-US" sz="1100" b="0" i="0" u="none" strike="noStrike" cap="none">
                <a:solidFill>
                  <a:srgbClr val="E6F2EA"/>
                </a:solidFill>
                <a:latin typeface="Georgia"/>
                <a:ea typeface="Georgia"/>
                <a:cs typeface="Georgia"/>
                <a:sym typeface="Georgia"/>
              </a:rPr>
              <a:t>Translate technical outputs into business value.</a:t>
            </a:r>
            <a:endParaRPr sz="11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685800" y="1965960"/>
            <a:ext cx="1920240" cy="1965960"/>
          </a:xfrm>
          <a:prstGeom prst="roundRect">
            <a:avLst>
              <a:gd name="adj" fmla="val 3810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822950" y="2176275"/>
            <a:ext cx="16458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300"/>
              <a:buFont typeface="Georgia"/>
              <a:buNone/>
            </a:pPr>
            <a:r>
              <a:rPr lang="en-US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Better pricing</a:t>
            </a:r>
            <a:endParaRPr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868675" y="2926072"/>
            <a:ext cx="15546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0"/>
              <a:buFont typeface="Georgia"/>
              <a:buNone/>
            </a:pPr>
            <a:r>
              <a:rPr lang="en-US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Evidence-based pricing decisions</a:t>
            </a:r>
            <a:endParaRPr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2898648" y="1965960"/>
            <a:ext cx="1920240" cy="1965960"/>
          </a:xfrm>
          <a:prstGeom prst="roundRect">
            <a:avLst>
              <a:gd name="adj" fmla="val 3810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3035800" y="2176275"/>
            <a:ext cx="16458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300"/>
              <a:buFont typeface="Georgia"/>
              <a:buNone/>
            </a:pPr>
            <a:r>
              <a:rPr lang="en-US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Investment screening</a:t>
            </a:r>
            <a:endParaRPr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3081524" y="2926072"/>
            <a:ext cx="15546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0"/>
              <a:buFont typeface="Georgia"/>
              <a:buNone/>
            </a:pPr>
            <a:r>
              <a:rPr lang="en-US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Prioritise candidates for due diligence</a:t>
            </a:r>
            <a:endParaRPr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5111496" y="1965960"/>
            <a:ext cx="1920240" cy="1965960"/>
          </a:xfrm>
          <a:prstGeom prst="roundRect">
            <a:avLst>
              <a:gd name="adj" fmla="val 3810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5248650" y="2176275"/>
            <a:ext cx="16458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300"/>
              <a:buFont typeface="Georgia"/>
              <a:buNone/>
            </a:pPr>
            <a:r>
              <a:rPr lang="en-US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Market prioritisation</a:t>
            </a:r>
            <a:endParaRPr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5294372" y="2926072"/>
            <a:ext cx="15546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0"/>
              <a:buFont typeface="Georgia"/>
              <a:buNone/>
            </a:pPr>
            <a:r>
              <a:rPr lang="en-US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Focus on promising towns and segments</a:t>
            </a:r>
            <a:endParaRPr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7324344" y="1965960"/>
            <a:ext cx="1920240" cy="1965960"/>
          </a:xfrm>
          <a:prstGeom prst="roundRect">
            <a:avLst>
              <a:gd name="adj" fmla="val 3810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7461500" y="2176275"/>
            <a:ext cx="16458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300"/>
              <a:buFont typeface="Georgia"/>
              <a:buNone/>
            </a:pPr>
            <a:r>
              <a:rPr lang="en-US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Reduced decision risk</a:t>
            </a:r>
            <a:endParaRPr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7507221" y="2926072"/>
            <a:ext cx="15546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0"/>
              <a:buFont typeface="Georgia"/>
              <a:buNone/>
            </a:pPr>
            <a:r>
              <a:rPr lang="en-US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Spot anomalies and document assumptions</a:t>
            </a:r>
            <a:endParaRPr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9537192" y="1965960"/>
            <a:ext cx="1920240" cy="1965960"/>
          </a:xfrm>
          <a:prstGeom prst="roundRect">
            <a:avLst>
              <a:gd name="adj" fmla="val 3810"/>
            </a:avLst>
          </a:prstGeom>
          <a:solidFill>
            <a:srgbClr val="FFFFFF">
              <a:alpha val="94901"/>
            </a:srgbClr>
          </a:solidFill>
          <a:ln w="12700" cap="flat" cmpd="sng">
            <a:solidFill>
              <a:srgbClr val="D7DD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9674350" y="2176275"/>
            <a:ext cx="16458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300"/>
              <a:buFont typeface="Georgia"/>
              <a:buNone/>
            </a:pPr>
            <a:r>
              <a:rPr lang="en-US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Reusable workflow</a:t>
            </a:r>
            <a:endParaRPr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9720070" y="2926072"/>
            <a:ext cx="15546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80"/>
              <a:buFont typeface="Georgia"/>
              <a:buNone/>
            </a:pPr>
            <a:r>
              <a:rPr lang="en-US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Repurpose the lifecycle across sectors</a:t>
            </a:r>
            <a:endParaRPr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685800" y="4201138"/>
            <a:ext cx="10771500" cy="1029300"/>
          </a:xfrm>
          <a:prstGeom prst="roundRect">
            <a:avLst>
              <a:gd name="adj" fmla="val 11111"/>
            </a:avLst>
          </a:prstGeom>
          <a:solidFill>
            <a:srgbClr val="005425"/>
          </a:solidFill>
          <a:ln w="12700" cap="flat" cmpd="sng">
            <a:solidFill>
              <a:srgbClr val="005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932700" y="4252200"/>
            <a:ext cx="10341900" cy="8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Predictive analytics creates growth when it helps organisations allocate capital better, reduce risk, and act with more evidence.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16" descr="/mnt/data/template_pages/page-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7843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0" y="1234440"/>
            <a:ext cx="1219169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800"/>
              <a:buFont typeface="Georgia"/>
              <a:buNone/>
            </a:pPr>
            <a:r>
              <a:rPr lang="en-US" sz="3800" b="0" i="0" u="none" strike="noStrike" cap="none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sz="3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1195675" y="2331725"/>
            <a:ext cx="9939900" cy="1735200"/>
          </a:xfrm>
          <a:prstGeom prst="roundRect">
            <a:avLst>
              <a:gd name="adj" fmla="val 9412"/>
            </a:avLst>
          </a:prstGeom>
          <a:solidFill>
            <a:srgbClr val="005425"/>
          </a:solidFill>
          <a:ln w="12700" cap="flat" cmpd="sng">
            <a:solidFill>
              <a:srgbClr val="005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1369300" y="2450600"/>
            <a:ext cx="95709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AI-driven predictive analytics is not about replacing business judgment. It is about improving business judgment with evidence.</a:t>
            </a:r>
            <a:endParaRPr sz="24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1195675" y="4398475"/>
            <a:ext cx="9939900" cy="7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425"/>
              </a:buClr>
              <a:buSzPts val="1350"/>
              <a:buFont typeface="Georgia"/>
              <a:buNone/>
            </a:pPr>
            <a:r>
              <a:rPr lang="en-US" sz="1350" b="1" i="0" u="none" strike="noStrike" cap="none">
                <a:solidFill>
                  <a:srgbClr val="005425"/>
                </a:solidFill>
                <a:latin typeface="Georgia"/>
                <a:ea typeface="Georgia"/>
                <a:cs typeface="Georgia"/>
                <a:sym typeface="Georgia"/>
              </a:rPr>
              <a:t>The power of AI in African markets is in building decision systems that help businesses grow with more evidence, less guesswork, and better accountability.</a:t>
            </a:r>
            <a:endParaRPr sz="135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4114800" y="5532120"/>
            <a:ext cx="1297534" cy="41148"/>
          </a:xfrm>
          <a:prstGeom prst="rect">
            <a:avLst/>
          </a:prstGeom>
          <a:solidFill>
            <a:srgbClr val="E31B23"/>
          </a:solidFill>
          <a:ln w="12700" cap="flat" cmpd="sng">
            <a:solidFill>
              <a:srgbClr val="E31B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5412334" y="5532120"/>
            <a:ext cx="1297534" cy="41148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6709867" y="5532120"/>
            <a:ext cx="1336853" cy="41148"/>
          </a:xfrm>
          <a:prstGeom prst="rect">
            <a:avLst/>
          </a:prstGeom>
          <a:solidFill>
            <a:srgbClr val="005425"/>
          </a:solidFill>
          <a:ln w="12700" cap="flat" cmpd="sng">
            <a:solidFill>
              <a:srgbClr val="0054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838</Words>
  <Application>Microsoft Office PowerPoint</Application>
  <PresentationFormat>Widescreen</PresentationFormat>
  <Paragraphs>174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Bilikisu Wunmi Olatunji</cp:lastModifiedBy>
  <cp:revision>1</cp:revision>
  <dcterms:modified xsi:type="dcterms:W3CDTF">2026-07-08T16:08:07Z</dcterms:modified>
</cp:coreProperties>
</file>